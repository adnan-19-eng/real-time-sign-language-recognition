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Century Gothic Paneuropean Bold" charset="1" panose="020B0702020202020204"/>
      <p:regular r:id="rId21"/>
    </p:embeddedFont>
    <p:embeddedFont>
      <p:font typeface="Century Gothic Paneuropean" charset="1" panose="020B0502020202020204"/>
      <p:regular r:id="rId22"/>
    </p:embeddedFont>
    <p:embeddedFont>
      <p:font typeface="Century Gothic Paneuropean Bold Italics" charset="1" panose="020B0702020202090204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5.png" Type="http://schemas.openxmlformats.org/officeDocument/2006/relationships/image"/><Relationship Id="rId7" Target="../media/image8.png" Type="http://schemas.openxmlformats.org/officeDocument/2006/relationships/image"/><Relationship Id="rId8" Target="../media/image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18947" y="-1134332"/>
            <a:ext cx="1080716" cy="3101350"/>
          </a:xfrm>
          <a:custGeom>
            <a:avLst/>
            <a:gdLst/>
            <a:ahLst/>
            <a:cxnLst/>
            <a:rect r="r" b="b" t="t" l="l"/>
            <a:pathLst>
              <a:path h="3101350" w="1080716">
                <a:moveTo>
                  <a:pt x="0" y="0"/>
                </a:moveTo>
                <a:lnTo>
                  <a:pt x="1080716" y="0"/>
                </a:lnTo>
                <a:lnTo>
                  <a:pt x="1080716" y="3101349"/>
                </a:lnTo>
                <a:lnTo>
                  <a:pt x="0" y="31013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92096" y="9641100"/>
            <a:ext cx="19672192" cy="1147401"/>
          </a:xfrm>
          <a:custGeom>
            <a:avLst/>
            <a:gdLst/>
            <a:ahLst/>
            <a:cxnLst/>
            <a:rect r="r" b="b" t="t" l="l"/>
            <a:pathLst>
              <a:path h="1147401" w="19672192">
                <a:moveTo>
                  <a:pt x="0" y="0"/>
                </a:moveTo>
                <a:lnTo>
                  <a:pt x="19672192" y="0"/>
                </a:lnTo>
                <a:lnTo>
                  <a:pt x="19672192" y="1147401"/>
                </a:lnTo>
                <a:lnTo>
                  <a:pt x="0" y="11474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88347" y="-1134332"/>
            <a:ext cx="1080716" cy="3101350"/>
          </a:xfrm>
          <a:custGeom>
            <a:avLst/>
            <a:gdLst/>
            <a:ahLst/>
            <a:cxnLst/>
            <a:rect r="r" b="b" t="t" l="l"/>
            <a:pathLst>
              <a:path h="3101350" w="1080716">
                <a:moveTo>
                  <a:pt x="0" y="0"/>
                </a:moveTo>
                <a:lnTo>
                  <a:pt x="1080716" y="0"/>
                </a:lnTo>
                <a:lnTo>
                  <a:pt x="1080716" y="3101349"/>
                </a:lnTo>
                <a:lnTo>
                  <a:pt x="0" y="31013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970446" y="2133999"/>
            <a:ext cx="14347107" cy="2715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86"/>
              </a:lnSpc>
            </a:pPr>
            <a:r>
              <a:rPr lang="en-US" sz="7847" b="true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REAL TIME SYSTEM FOR SIGN LANGUAGE RECOGNITION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400680" y="5057775"/>
            <a:ext cx="7486640" cy="7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08"/>
              </a:lnSpc>
            </a:pPr>
            <a:r>
              <a:rPr lang="en-US" sz="4648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Presented b</a:t>
            </a:r>
            <a:r>
              <a:rPr lang="en-US" sz="4648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y 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488347" y="0"/>
            <a:ext cx="1902781" cy="1959150"/>
            <a:chOff x="0" y="0"/>
            <a:chExt cx="2537041" cy="2612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537079" cy="2612136"/>
            </a:xfrm>
            <a:custGeom>
              <a:avLst/>
              <a:gdLst/>
              <a:ahLst/>
              <a:cxnLst/>
              <a:rect r="r" b="b" t="t" l="l"/>
              <a:pathLst>
                <a:path h="2612136" w="2537079">
                  <a:moveTo>
                    <a:pt x="0" y="0"/>
                  </a:moveTo>
                  <a:lnTo>
                    <a:pt x="2537079" y="0"/>
                  </a:lnTo>
                  <a:lnTo>
                    <a:pt x="2537079" y="2612136"/>
                  </a:lnTo>
                  <a:lnTo>
                    <a:pt x="0" y="26121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28" r="1" b="-3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2391127" y="6761814"/>
            <a:ext cx="4446715" cy="3452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7"/>
              </a:lnSpc>
            </a:pPr>
            <a:r>
              <a:rPr lang="en-US" sz="2805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SANDEEP SV</a:t>
            </a:r>
          </a:p>
          <a:p>
            <a:pPr algn="l">
              <a:lnSpc>
                <a:spcPts val="3927"/>
              </a:lnSpc>
            </a:pPr>
            <a:r>
              <a:rPr lang="en-US" sz="2805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U01CJ23S0037</a:t>
            </a:r>
          </a:p>
          <a:p>
            <a:pPr algn="l">
              <a:lnSpc>
                <a:spcPts val="3927"/>
              </a:lnSpc>
            </a:pPr>
            <a:r>
              <a:rPr lang="en-US" sz="2805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ROSHAN LOUIS MENEZES</a:t>
            </a:r>
          </a:p>
          <a:p>
            <a:pPr algn="l">
              <a:lnSpc>
                <a:spcPts val="3927"/>
              </a:lnSpc>
            </a:pPr>
            <a:r>
              <a:rPr lang="en-US" sz="2805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U01CJ23S0010</a:t>
            </a:r>
          </a:p>
          <a:p>
            <a:pPr algn="l">
              <a:lnSpc>
                <a:spcPts val="3927"/>
              </a:lnSpc>
            </a:pPr>
          </a:p>
          <a:p>
            <a:pPr algn="l">
              <a:lnSpc>
                <a:spcPts val="3927"/>
              </a:lnSpc>
            </a:pPr>
          </a:p>
          <a:p>
            <a:pPr algn="l">
              <a:lnSpc>
                <a:spcPts val="3927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2373397" y="6648365"/>
            <a:ext cx="3963472" cy="2714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0"/>
              </a:lnSpc>
            </a:pPr>
            <a:r>
              <a:rPr lang="en-US" sz="2614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MUHAMMED ADNAN</a:t>
            </a:r>
          </a:p>
          <a:p>
            <a:pPr algn="l">
              <a:lnSpc>
                <a:spcPts val="3660"/>
              </a:lnSpc>
            </a:pPr>
            <a:r>
              <a:rPr lang="en-US" sz="2614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U01CJ23S0003</a:t>
            </a:r>
          </a:p>
          <a:p>
            <a:pPr algn="l">
              <a:lnSpc>
                <a:spcPts val="3660"/>
              </a:lnSpc>
            </a:pPr>
            <a:r>
              <a:rPr lang="en-US" sz="2614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JALAM SINGH CHOUHAN</a:t>
            </a:r>
          </a:p>
          <a:p>
            <a:pPr algn="l">
              <a:lnSpc>
                <a:spcPts val="3660"/>
              </a:lnSpc>
            </a:pPr>
            <a:r>
              <a:rPr lang="en-US" sz="2614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U01CJ23S0024</a:t>
            </a:r>
          </a:p>
          <a:p>
            <a:pPr algn="l">
              <a:lnSpc>
                <a:spcPts val="3660"/>
              </a:lnSpc>
            </a:pPr>
          </a:p>
          <a:p>
            <a:pPr algn="l">
              <a:lnSpc>
                <a:spcPts val="366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18947" y="-1134332"/>
            <a:ext cx="1080716" cy="3101350"/>
          </a:xfrm>
          <a:custGeom>
            <a:avLst/>
            <a:gdLst/>
            <a:ahLst/>
            <a:cxnLst/>
            <a:rect r="r" b="b" t="t" l="l"/>
            <a:pathLst>
              <a:path h="3101350" w="1080716">
                <a:moveTo>
                  <a:pt x="0" y="0"/>
                </a:moveTo>
                <a:lnTo>
                  <a:pt x="1080716" y="0"/>
                </a:lnTo>
                <a:lnTo>
                  <a:pt x="1080716" y="3101349"/>
                </a:lnTo>
                <a:lnTo>
                  <a:pt x="0" y="31013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92096" y="9641100"/>
            <a:ext cx="19672192" cy="1147401"/>
          </a:xfrm>
          <a:custGeom>
            <a:avLst/>
            <a:gdLst/>
            <a:ahLst/>
            <a:cxnLst/>
            <a:rect r="r" b="b" t="t" l="l"/>
            <a:pathLst>
              <a:path h="1147401" w="19672192">
                <a:moveTo>
                  <a:pt x="0" y="0"/>
                </a:moveTo>
                <a:lnTo>
                  <a:pt x="19672192" y="0"/>
                </a:lnTo>
                <a:lnTo>
                  <a:pt x="19672192" y="1147401"/>
                </a:lnTo>
                <a:lnTo>
                  <a:pt x="0" y="11474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88347" y="-1134332"/>
            <a:ext cx="1080716" cy="3101350"/>
          </a:xfrm>
          <a:custGeom>
            <a:avLst/>
            <a:gdLst/>
            <a:ahLst/>
            <a:cxnLst/>
            <a:rect r="r" b="b" t="t" l="l"/>
            <a:pathLst>
              <a:path h="3101350" w="1080716">
                <a:moveTo>
                  <a:pt x="0" y="0"/>
                </a:moveTo>
                <a:lnTo>
                  <a:pt x="1080716" y="0"/>
                </a:lnTo>
                <a:lnTo>
                  <a:pt x="1080716" y="3101349"/>
                </a:lnTo>
                <a:lnTo>
                  <a:pt x="0" y="31013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747281" y="207301"/>
            <a:ext cx="14347107" cy="1392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6"/>
              </a:lnSpc>
            </a:pPr>
            <a:r>
              <a:rPr lang="en-US" sz="8190" b="true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INDEX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488347" y="0"/>
            <a:ext cx="1902781" cy="1959150"/>
            <a:chOff x="0" y="0"/>
            <a:chExt cx="2537041" cy="2612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537079" cy="2612136"/>
            </a:xfrm>
            <a:custGeom>
              <a:avLst/>
              <a:gdLst/>
              <a:ahLst/>
              <a:cxnLst/>
              <a:rect r="r" b="b" t="t" l="l"/>
              <a:pathLst>
                <a:path h="2612136" w="2537079">
                  <a:moveTo>
                    <a:pt x="0" y="0"/>
                  </a:moveTo>
                  <a:lnTo>
                    <a:pt x="2537079" y="0"/>
                  </a:lnTo>
                  <a:lnTo>
                    <a:pt x="2537079" y="2612136"/>
                  </a:lnTo>
                  <a:lnTo>
                    <a:pt x="0" y="26121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28" r="1" b="-3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2934025" y="1523249"/>
            <a:ext cx="10382580" cy="7447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62494" indent="-381247" lvl="1">
              <a:lnSpc>
                <a:spcPts val="4944"/>
              </a:lnSpc>
              <a:buFont typeface="Arial"/>
              <a:buChar char="•"/>
            </a:pPr>
            <a:r>
              <a:rPr lang="en-US" sz="3531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 Intr</a:t>
            </a:r>
            <a:r>
              <a:rPr lang="en-US" sz="3531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oduction</a:t>
            </a:r>
          </a:p>
          <a:p>
            <a:pPr algn="l" marL="762494" indent="-381247" lvl="1">
              <a:lnSpc>
                <a:spcPts val="4944"/>
              </a:lnSpc>
              <a:buFont typeface="Arial"/>
              <a:buChar char="•"/>
            </a:pPr>
            <a:r>
              <a:rPr lang="en-US" sz="3531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 Problem Statement</a:t>
            </a:r>
          </a:p>
          <a:p>
            <a:pPr algn="l" marL="762494" indent="-381247" lvl="1">
              <a:lnSpc>
                <a:spcPts val="4944"/>
              </a:lnSpc>
              <a:buFont typeface="Arial"/>
              <a:buChar char="•"/>
            </a:pPr>
            <a:r>
              <a:rPr lang="en-US" sz="3531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 Objectives</a:t>
            </a:r>
          </a:p>
          <a:p>
            <a:pPr algn="l" marL="762494" indent="-381247" lvl="1">
              <a:lnSpc>
                <a:spcPts val="4944"/>
              </a:lnSpc>
              <a:buFont typeface="Arial"/>
              <a:buChar char="•"/>
            </a:pPr>
            <a:r>
              <a:rPr lang="en-US" sz="3531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 Scope of the project</a:t>
            </a:r>
          </a:p>
          <a:p>
            <a:pPr algn="l" marL="762494" indent="-381247" lvl="1">
              <a:lnSpc>
                <a:spcPts val="4944"/>
              </a:lnSpc>
              <a:buFont typeface="Arial"/>
              <a:buChar char="•"/>
            </a:pPr>
            <a:r>
              <a:rPr lang="en-US" sz="3531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 Literature review</a:t>
            </a:r>
          </a:p>
          <a:p>
            <a:pPr algn="l" marL="762494" indent="-381247" lvl="1">
              <a:lnSpc>
                <a:spcPts val="4944"/>
              </a:lnSpc>
              <a:buFont typeface="Arial"/>
              <a:buChar char="•"/>
            </a:pPr>
            <a:r>
              <a:rPr lang="en-US" sz="3531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 Software requirements</a:t>
            </a:r>
          </a:p>
          <a:p>
            <a:pPr algn="l" marL="762494" indent="-381247" lvl="1">
              <a:lnSpc>
                <a:spcPts val="4944"/>
              </a:lnSpc>
              <a:buFont typeface="Arial"/>
              <a:buChar char="•"/>
            </a:pPr>
            <a:r>
              <a:rPr lang="en-US" sz="3531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 Methodology</a:t>
            </a:r>
          </a:p>
          <a:p>
            <a:pPr algn="l" marL="762494" indent="-381247" lvl="1">
              <a:lnSpc>
                <a:spcPts val="4944"/>
              </a:lnSpc>
              <a:buFont typeface="Arial"/>
              <a:buChar char="•"/>
            </a:pPr>
            <a:r>
              <a:rPr lang="en-US" sz="3531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 System Architecture</a:t>
            </a:r>
          </a:p>
          <a:p>
            <a:pPr algn="l" marL="762494" indent="-381247" lvl="1">
              <a:lnSpc>
                <a:spcPts val="4944"/>
              </a:lnSpc>
              <a:buFont typeface="Arial"/>
              <a:buChar char="•"/>
            </a:pPr>
            <a:r>
              <a:rPr lang="en-US" sz="3531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 Dataset Description</a:t>
            </a:r>
          </a:p>
          <a:p>
            <a:pPr algn="l" marL="762494" indent="-381247" lvl="1">
              <a:lnSpc>
                <a:spcPts val="4944"/>
              </a:lnSpc>
              <a:buFont typeface="Arial"/>
              <a:buChar char="•"/>
            </a:pPr>
            <a:r>
              <a:rPr lang="en-US" sz="3531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 Results</a:t>
            </a:r>
          </a:p>
          <a:p>
            <a:pPr algn="l" marL="762494" indent="-381247" lvl="1">
              <a:lnSpc>
                <a:spcPts val="4944"/>
              </a:lnSpc>
              <a:buFont typeface="Arial"/>
              <a:buChar char="•"/>
            </a:pPr>
            <a:r>
              <a:rPr lang="en-US" sz="3531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 Applications</a:t>
            </a:r>
          </a:p>
          <a:p>
            <a:pPr algn="l" marL="762494" indent="-381247" lvl="1">
              <a:lnSpc>
                <a:spcPts val="4944"/>
              </a:lnSpc>
              <a:buFont typeface="Arial"/>
              <a:buChar char="•"/>
            </a:pPr>
            <a:r>
              <a:rPr lang="en-US" sz="3531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 Conclusion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18947" y="-1134332"/>
            <a:ext cx="1080716" cy="3101350"/>
          </a:xfrm>
          <a:custGeom>
            <a:avLst/>
            <a:gdLst/>
            <a:ahLst/>
            <a:cxnLst/>
            <a:rect r="r" b="b" t="t" l="l"/>
            <a:pathLst>
              <a:path h="3101350" w="1080716">
                <a:moveTo>
                  <a:pt x="0" y="0"/>
                </a:moveTo>
                <a:lnTo>
                  <a:pt x="1080716" y="0"/>
                </a:lnTo>
                <a:lnTo>
                  <a:pt x="1080716" y="3101349"/>
                </a:lnTo>
                <a:lnTo>
                  <a:pt x="0" y="31013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92096" y="9641100"/>
            <a:ext cx="19672192" cy="1147401"/>
          </a:xfrm>
          <a:custGeom>
            <a:avLst/>
            <a:gdLst/>
            <a:ahLst/>
            <a:cxnLst/>
            <a:rect r="r" b="b" t="t" l="l"/>
            <a:pathLst>
              <a:path h="1147401" w="19672192">
                <a:moveTo>
                  <a:pt x="0" y="0"/>
                </a:moveTo>
                <a:lnTo>
                  <a:pt x="19672192" y="0"/>
                </a:lnTo>
                <a:lnTo>
                  <a:pt x="19672192" y="1147401"/>
                </a:lnTo>
                <a:lnTo>
                  <a:pt x="0" y="11474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875414" y="1118559"/>
            <a:ext cx="8537181" cy="1544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8"/>
              </a:lnSpc>
            </a:pPr>
            <a:r>
              <a:rPr lang="en-US" sz="8191" b="true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INTRODUCTION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69063" y="3556840"/>
            <a:ext cx="16230600" cy="5114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87652" indent="-393826" lvl="1">
              <a:lnSpc>
                <a:spcPts val="5103"/>
              </a:lnSpc>
              <a:buFont typeface="Arial"/>
              <a:buChar char="•"/>
            </a:pPr>
            <a:r>
              <a:rPr lang="en-US" sz="3648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Sign language is a visual language that uses hand gestures, facial expressions, and body movements for communication.</a:t>
            </a:r>
          </a:p>
          <a:p>
            <a:pPr algn="l" marL="787652" indent="-393826" lvl="1">
              <a:lnSpc>
                <a:spcPts val="5103"/>
              </a:lnSpc>
              <a:buFont typeface="Arial"/>
              <a:buChar char="•"/>
            </a:pPr>
            <a:r>
              <a:rPr lang="en-US" sz="3648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Used mainly by hearing and speech-impaired people.</a:t>
            </a:r>
          </a:p>
          <a:p>
            <a:pPr algn="l" marL="787652" indent="-393826" lvl="1">
              <a:lnSpc>
                <a:spcPts val="5103"/>
              </a:lnSpc>
              <a:buFont typeface="Arial"/>
              <a:buChar char="•"/>
            </a:pPr>
            <a:r>
              <a:rPr lang="en-US" sz="3648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Different countries have different sign languages.</a:t>
            </a:r>
          </a:p>
          <a:p>
            <a:pPr algn="l" marL="787652" indent="-393826" lvl="1">
              <a:lnSpc>
                <a:spcPts val="5103"/>
              </a:lnSpc>
              <a:buFont typeface="Arial"/>
              <a:buChar char="•"/>
            </a:pPr>
            <a:r>
              <a:rPr lang="en-US" sz="3648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Example: American Sign Language (ASL), Indian Sign Language (ISL).</a:t>
            </a:r>
          </a:p>
          <a:p>
            <a:pPr algn="l" marL="787652" indent="-393826" lvl="1">
              <a:lnSpc>
                <a:spcPts val="5103"/>
              </a:lnSpc>
              <a:buFont typeface="Arial"/>
              <a:buChar char="•"/>
            </a:pPr>
            <a:r>
              <a:rPr lang="en-US" sz="3648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Technology can help translate gestures into text or speech.</a:t>
            </a:r>
          </a:p>
          <a:p>
            <a:pPr algn="l">
              <a:lnSpc>
                <a:spcPts val="5107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488347" y="-1134332"/>
            <a:ext cx="1080716" cy="3101350"/>
          </a:xfrm>
          <a:custGeom>
            <a:avLst/>
            <a:gdLst/>
            <a:ahLst/>
            <a:cxnLst/>
            <a:rect r="r" b="b" t="t" l="l"/>
            <a:pathLst>
              <a:path h="3101350" w="1080716">
                <a:moveTo>
                  <a:pt x="0" y="0"/>
                </a:moveTo>
                <a:lnTo>
                  <a:pt x="1080716" y="0"/>
                </a:lnTo>
                <a:lnTo>
                  <a:pt x="1080716" y="3101349"/>
                </a:lnTo>
                <a:lnTo>
                  <a:pt x="0" y="31013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488347" y="0"/>
            <a:ext cx="1910420" cy="1967017"/>
            <a:chOff x="0" y="0"/>
            <a:chExt cx="2547226" cy="26226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547239" cy="2622677"/>
            </a:xfrm>
            <a:custGeom>
              <a:avLst/>
              <a:gdLst/>
              <a:ahLst/>
              <a:cxnLst/>
              <a:rect r="r" b="b" t="t" l="l"/>
              <a:pathLst>
                <a:path h="2622677" w="2547239">
                  <a:moveTo>
                    <a:pt x="0" y="0"/>
                  </a:moveTo>
                  <a:lnTo>
                    <a:pt x="2547239" y="0"/>
                  </a:lnTo>
                  <a:lnTo>
                    <a:pt x="2547239" y="2622677"/>
                  </a:lnTo>
                  <a:lnTo>
                    <a:pt x="0" y="26226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28" r="0" b="-28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18947" y="-1134332"/>
            <a:ext cx="1080716" cy="3101350"/>
          </a:xfrm>
          <a:custGeom>
            <a:avLst/>
            <a:gdLst/>
            <a:ahLst/>
            <a:cxnLst/>
            <a:rect r="r" b="b" t="t" l="l"/>
            <a:pathLst>
              <a:path h="3101350" w="1080716">
                <a:moveTo>
                  <a:pt x="0" y="0"/>
                </a:moveTo>
                <a:lnTo>
                  <a:pt x="1080716" y="0"/>
                </a:lnTo>
                <a:lnTo>
                  <a:pt x="1080716" y="3101349"/>
                </a:lnTo>
                <a:lnTo>
                  <a:pt x="0" y="31013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92096" y="9641100"/>
            <a:ext cx="19672192" cy="1147401"/>
          </a:xfrm>
          <a:custGeom>
            <a:avLst/>
            <a:gdLst/>
            <a:ahLst/>
            <a:cxnLst/>
            <a:rect r="r" b="b" t="t" l="l"/>
            <a:pathLst>
              <a:path h="1147401" w="19672192">
                <a:moveTo>
                  <a:pt x="0" y="0"/>
                </a:moveTo>
                <a:lnTo>
                  <a:pt x="19672192" y="0"/>
                </a:lnTo>
                <a:lnTo>
                  <a:pt x="19672192" y="1147401"/>
                </a:lnTo>
                <a:lnTo>
                  <a:pt x="0" y="11474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757300" y="831109"/>
            <a:ext cx="10773401" cy="1392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8"/>
              </a:lnSpc>
            </a:pPr>
            <a:r>
              <a:rPr lang="en-US" b="true" sz="819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</a:t>
            </a:r>
            <a:r>
              <a:rPr lang="en-US" b="true" sz="819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PROBLEM STATEMENT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53500" y="3521941"/>
            <a:ext cx="17747791" cy="3831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87652" indent="-393826" lvl="1">
              <a:lnSpc>
                <a:spcPts val="5103"/>
              </a:lnSpc>
              <a:buFont typeface="Arial"/>
              <a:buChar char="•"/>
            </a:pPr>
            <a:r>
              <a:rPr lang="en-US" sz="3648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Deaf people face d</a:t>
            </a:r>
            <a:r>
              <a:rPr lang="en-US" sz="3648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ifficulty communicating with others.</a:t>
            </a:r>
          </a:p>
          <a:p>
            <a:pPr algn="l" marL="787652" indent="-393826" lvl="1">
              <a:lnSpc>
                <a:spcPts val="5103"/>
              </a:lnSpc>
              <a:buFont typeface="Arial"/>
              <a:buChar char="•"/>
            </a:pPr>
            <a:r>
              <a:rPr lang="en-US" sz="3648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Most systems depend on speech or written language.</a:t>
            </a:r>
          </a:p>
          <a:p>
            <a:pPr algn="l" marL="787652" indent="-393826" lvl="1">
              <a:lnSpc>
                <a:spcPts val="5103"/>
              </a:lnSpc>
              <a:buFont typeface="Arial"/>
              <a:buChar char="•"/>
            </a:pPr>
            <a:r>
              <a:rPr lang="en-US" sz="3648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Few </a:t>
            </a:r>
            <a:r>
              <a:rPr lang="en-US" sz="3648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affordable systems exist for sign language translation.</a:t>
            </a:r>
          </a:p>
          <a:p>
            <a:pPr algn="l" marL="787652" indent="-393826" lvl="1">
              <a:lnSpc>
                <a:spcPts val="5103"/>
              </a:lnSpc>
              <a:buFont typeface="Arial"/>
              <a:buChar char="•"/>
            </a:pPr>
            <a:r>
              <a:rPr lang="en-US" sz="3648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Our s</a:t>
            </a:r>
            <a:r>
              <a:rPr lang="en-US" sz="3648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ystem aims to recognize gestures and convert them into text in real time.</a:t>
            </a:r>
          </a:p>
          <a:p>
            <a:pPr algn="l">
              <a:lnSpc>
                <a:spcPts val="5107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488347" y="-1134332"/>
            <a:ext cx="1080716" cy="3101350"/>
          </a:xfrm>
          <a:custGeom>
            <a:avLst/>
            <a:gdLst/>
            <a:ahLst/>
            <a:cxnLst/>
            <a:rect r="r" b="b" t="t" l="l"/>
            <a:pathLst>
              <a:path h="3101350" w="1080716">
                <a:moveTo>
                  <a:pt x="0" y="0"/>
                </a:moveTo>
                <a:lnTo>
                  <a:pt x="1080716" y="0"/>
                </a:lnTo>
                <a:lnTo>
                  <a:pt x="1080716" y="3101349"/>
                </a:lnTo>
                <a:lnTo>
                  <a:pt x="0" y="31013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488347" y="0"/>
            <a:ext cx="1910420" cy="1967017"/>
            <a:chOff x="0" y="0"/>
            <a:chExt cx="2547226" cy="26226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547239" cy="2622677"/>
            </a:xfrm>
            <a:custGeom>
              <a:avLst/>
              <a:gdLst/>
              <a:ahLst/>
              <a:cxnLst/>
              <a:rect r="r" b="b" t="t" l="l"/>
              <a:pathLst>
                <a:path h="2622677" w="2547239">
                  <a:moveTo>
                    <a:pt x="0" y="0"/>
                  </a:moveTo>
                  <a:lnTo>
                    <a:pt x="2547239" y="0"/>
                  </a:lnTo>
                  <a:lnTo>
                    <a:pt x="2547239" y="2622677"/>
                  </a:lnTo>
                  <a:lnTo>
                    <a:pt x="0" y="26226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28" r="0" b="-28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18947" y="-1134332"/>
            <a:ext cx="1080716" cy="3101350"/>
          </a:xfrm>
          <a:custGeom>
            <a:avLst/>
            <a:gdLst/>
            <a:ahLst/>
            <a:cxnLst/>
            <a:rect r="r" b="b" t="t" l="l"/>
            <a:pathLst>
              <a:path h="3101350" w="1080716">
                <a:moveTo>
                  <a:pt x="0" y="0"/>
                </a:moveTo>
                <a:lnTo>
                  <a:pt x="1080716" y="0"/>
                </a:lnTo>
                <a:lnTo>
                  <a:pt x="1080716" y="3101349"/>
                </a:lnTo>
                <a:lnTo>
                  <a:pt x="0" y="31013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92096" y="9641100"/>
            <a:ext cx="19672192" cy="1147401"/>
          </a:xfrm>
          <a:custGeom>
            <a:avLst/>
            <a:gdLst/>
            <a:ahLst/>
            <a:cxnLst/>
            <a:rect r="r" b="b" t="t" l="l"/>
            <a:pathLst>
              <a:path h="1147401" w="19672192">
                <a:moveTo>
                  <a:pt x="0" y="0"/>
                </a:moveTo>
                <a:lnTo>
                  <a:pt x="19672192" y="0"/>
                </a:lnTo>
                <a:lnTo>
                  <a:pt x="19672192" y="1147401"/>
                </a:lnTo>
                <a:lnTo>
                  <a:pt x="0" y="11474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875414" y="1118559"/>
            <a:ext cx="8537181" cy="1392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8"/>
              </a:lnSpc>
            </a:pPr>
            <a:r>
              <a:rPr lang="en-US" b="true" sz="819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OBJECTIVES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404009" y="3199091"/>
            <a:ext cx="12729520" cy="3863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6297" indent="-398148" lvl="1">
              <a:lnSpc>
                <a:spcPts val="5159"/>
              </a:lnSpc>
              <a:buFont typeface="Arial"/>
              <a:buChar char="•"/>
            </a:pPr>
            <a:r>
              <a:rPr lang="en-US" sz="3688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Study basic sign language gestures.</a:t>
            </a:r>
          </a:p>
          <a:p>
            <a:pPr algn="l" marL="796297" indent="-398148" lvl="1">
              <a:lnSpc>
                <a:spcPts val="5159"/>
              </a:lnSpc>
              <a:buFont typeface="Arial"/>
              <a:buChar char="•"/>
            </a:pPr>
            <a:r>
              <a:rPr lang="en-US" sz="3688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Und</a:t>
            </a:r>
            <a:r>
              <a:rPr lang="en-US" sz="3688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erstand computer vision techniques.</a:t>
            </a:r>
          </a:p>
          <a:p>
            <a:pPr algn="l" marL="796297" indent="-398148" lvl="1">
              <a:lnSpc>
                <a:spcPts val="5159"/>
              </a:lnSpc>
              <a:buFont typeface="Arial"/>
              <a:buChar char="•"/>
            </a:pPr>
            <a:r>
              <a:rPr lang="en-US" sz="3688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Bui</a:t>
            </a:r>
            <a:r>
              <a:rPr lang="en-US" sz="3688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ld a sign language recognition system.</a:t>
            </a:r>
          </a:p>
          <a:p>
            <a:pPr algn="l" marL="796297" indent="-398148" lvl="1">
              <a:lnSpc>
                <a:spcPts val="5159"/>
              </a:lnSpc>
              <a:buFont typeface="Arial"/>
              <a:buChar char="•"/>
            </a:pPr>
            <a:r>
              <a:rPr lang="en-US" sz="3688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</a:t>
            </a:r>
            <a:r>
              <a:rPr lang="en-US" sz="3688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onvert hand gestures into readable text.</a:t>
            </a:r>
          </a:p>
          <a:p>
            <a:pPr algn="l" marL="796297" indent="-398148" lvl="1">
              <a:lnSpc>
                <a:spcPts val="5159"/>
              </a:lnSpc>
              <a:buFont typeface="Arial"/>
              <a:buChar char="•"/>
            </a:pPr>
            <a:r>
              <a:rPr lang="en-US" sz="3688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Use machine learning for gesture classification. </a:t>
            </a:r>
          </a:p>
          <a:p>
            <a:pPr algn="l">
              <a:lnSpc>
                <a:spcPts val="5163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488347" y="-1134332"/>
            <a:ext cx="1080716" cy="3101350"/>
          </a:xfrm>
          <a:custGeom>
            <a:avLst/>
            <a:gdLst/>
            <a:ahLst/>
            <a:cxnLst/>
            <a:rect r="r" b="b" t="t" l="l"/>
            <a:pathLst>
              <a:path h="3101350" w="1080716">
                <a:moveTo>
                  <a:pt x="0" y="0"/>
                </a:moveTo>
                <a:lnTo>
                  <a:pt x="1080716" y="0"/>
                </a:lnTo>
                <a:lnTo>
                  <a:pt x="1080716" y="3101349"/>
                </a:lnTo>
                <a:lnTo>
                  <a:pt x="0" y="31013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488347" y="0"/>
            <a:ext cx="1910420" cy="1967017"/>
            <a:chOff x="0" y="0"/>
            <a:chExt cx="2547226" cy="26226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547239" cy="2622677"/>
            </a:xfrm>
            <a:custGeom>
              <a:avLst/>
              <a:gdLst/>
              <a:ahLst/>
              <a:cxnLst/>
              <a:rect r="r" b="b" t="t" l="l"/>
              <a:pathLst>
                <a:path h="2622677" w="2547239">
                  <a:moveTo>
                    <a:pt x="0" y="0"/>
                  </a:moveTo>
                  <a:lnTo>
                    <a:pt x="2547239" y="0"/>
                  </a:lnTo>
                  <a:lnTo>
                    <a:pt x="2547239" y="2622677"/>
                  </a:lnTo>
                  <a:lnTo>
                    <a:pt x="0" y="26226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28" r="0" b="-28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18947" y="-1134332"/>
            <a:ext cx="1080716" cy="3101350"/>
          </a:xfrm>
          <a:custGeom>
            <a:avLst/>
            <a:gdLst/>
            <a:ahLst/>
            <a:cxnLst/>
            <a:rect r="r" b="b" t="t" l="l"/>
            <a:pathLst>
              <a:path h="3101350" w="1080716">
                <a:moveTo>
                  <a:pt x="0" y="0"/>
                </a:moveTo>
                <a:lnTo>
                  <a:pt x="1080716" y="0"/>
                </a:lnTo>
                <a:lnTo>
                  <a:pt x="1080716" y="3101349"/>
                </a:lnTo>
                <a:lnTo>
                  <a:pt x="0" y="31013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92096" y="9641100"/>
            <a:ext cx="19672192" cy="1147401"/>
          </a:xfrm>
          <a:custGeom>
            <a:avLst/>
            <a:gdLst/>
            <a:ahLst/>
            <a:cxnLst/>
            <a:rect r="r" b="b" t="t" l="l"/>
            <a:pathLst>
              <a:path h="1147401" w="19672192">
                <a:moveTo>
                  <a:pt x="0" y="0"/>
                </a:moveTo>
                <a:lnTo>
                  <a:pt x="19672192" y="0"/>
                </a:lnTo>
                <a:lnTo>
                  <a:pt x="19672192" y="1147401"/>
                </a:lnTo>
                <a:lnTo>
                  <a:pt x="0" y="11474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222167" y="876300"/>
            <a:ext cx="12194058" cy="1392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8"/>
              </a:lnSpc>
            </a:pPr>
            <a:r>
              <a:rPr lang="en-US" b="true" sz="819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</a:t>
            </a:r>
            <a:r>
              <a:rPr lang="en-US" b="true" sz="819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SCOPE OF THE PROJECT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69063" y="3636635"/>
            <a:ext cx="16770953" cy="3379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35615" indent="-417808" lvl="1">
              <a:lnSpc>
                <a:spcPts val="5414"/>
              </a:lnSpc>
              <a:buFont typeface="Arial"/>
              <a:buChar char="•"/>
            </a:pPr>
            <a:r>
              <a:rPr lang="en-US" sz="387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Recognizes only a predefined set o</a:t>
            </a:r>
            <a:r>
              <a:rPr lang="en-US" sz="387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 gestures.</a:t>
            </a:r>
          </a:p>
          <a:p>
            <a:pPr algn="l" marL="835615" indent="-417808" lvl="1">
              <a:lnSpc>
                <a:spcPts val="5414"/>
              </a:lnSpc>
              <a:buFont typeface="Arial"/>
              <a:buChar char="•"/>
            </a:pPr>
            <a:r>
              <a:rPr lang="en-US" sz="387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Designed mainly for educational purposes.</a:t>
            </a:r>
          </a:p>
          <a:p>
            <a:pPr algn="l" marL="835615" indent="-417808" lvl="1">
              <a:lnSpc>
                <a:spcPts val="5414"/>
              </a:lnSpc>
              <a:buFont typeface="Arial"/>
              <a:buChar char="•"/>
            </a:pPr>
            <a:r>
              <a:rPr lang="en-US" sz="387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P</a:t>
            </a:r>
            <a:r>
              <a:rPr lang="en-US" sz="387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rovides basic communication support.</a:t>
            </a:r>
          </a:p>
          <a:p>
            <a:pPr algn="l" marL="835615" indent="-417808" lvl="1">
              <a:lnSpc>
                <a:spcPts val="5414"/>
              </a:lnSpc>
              <a:buFont typeface="Arial"/>
              <a:buChar char="•"/>
            </a:pPr>
            <a:r>
              <a:rPr lang="en-US" sz="387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</a:t>
            </a:r>
            <a:r>
              <a:rPr lang="en-US" sz="387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an be expanded to support more gestures and languages. </a:t>
            </a:r>
          </a:p>
          <a:p>
            <a:pPr algn="l">
              <a:lnSpc>
                <a:spcPts val="5418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488347" y="-1134332"/>
            <a:ext cx="1080716" cy="3101350"/>
          </a:xfrm>
          <a:custGeom>
            <a:avLst/>
            <a:gdLst/>
            <a:ahLst/>
            <a:cxnLst/>
            <a:rect r="r" b="b" t="t" l="l"/>
            <a:pathLst>
              <a:path h="3101350" w="1080716">
                <a:moveTo>
                  <a:pt x="0" y="0"/>
                </a:moveTo>
                <a:lnTo>
                  <a:pt x="1080716" y="0"/>
                </a:lnTo>
                <a:lnTo>
                  <a:pt x="1080716" y="3101349"/>
                </a:lnTo>
                <a:lnTo>
                  <a:pt x="0" y="31013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488347" y="0"/>
            <a:ext cx="1910420" cy="1967017"/>
            <a:chOff x="0" y="0"/>
            <a:chExt cx="2547226" cy="26226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547239" cy="2622677"/>
            </a:xfrm>
            <a:custGeom>
              <a:avLst/>
              <a:gdLst/>
              <a:ahLst/>
              <a:cxnLst/>
              <a:rect r="r" b="b" t="t" l="l"/>
              <a:pathLst>
                <a:path h="2622677" w="2547239">
                  <a:moveTo>
                    <a:pt x="0" y="0"/>
                  </a:moveTo>
                  <a:lnTo>
                    <a:pt x="2547239" y="0"/>
                  </a:lnTo>
                  <a:lnTo>
                    <a:pt x="2547239" y="2622677"/>
                  </a:lnTo>
                  <a:lnTo>
                    <a:pt x="0" y="26226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28" r="0" b="-28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18947" y="-1134332"/>
            <a:ext cx="1080716" cy="3101350"/>
          </a:xfrm>
          <a:custGeom>
            <a:avLst/>
            <a:gdLst/>
            <a:ahLst/>
            <a:cxnLst/>
            <a:rect r="r" b="b" t="t" l="l"/>
            <a:pathLst>
              <a:path h="3101350" w="1080716">
                <a:moveTo>
                  <a:pt x="0" y="0"/>
                </a:moveTo>
                <a:lnTo>
                  <a:pt x="1080716" y="0"/>
                </a:lnTo>
                <a:lnTo>
                  <a:pt x="1080716" y="3101349"/>
                </a:lnTo>
                <a:lnTo>
                  <a:pt x="0" y="31013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92096" y="9641100"/>
            <a:ext cx="19672192" cy="1147401"/>
          </a:xfrm>
          <a:custGeom>
            <a:avLst/>
            <a:gdLst/>
            <a:ahLst/>
            <a:cxnLst/>
            <a:rect r="r" b="b" t="t" l="l"/>
            <a:pathLst>
              <a:path h="1147401" w="19672192">
                <a:moveTo>
                  <a:pt x="0" y="0"/>
                </a:moveTo>
                <a:lnTo>
                  <a:pt x="19672192" y="0"/>
                </a:lnTo>
                <a:lnTo>
                  <a:pt x="19672192" y="1147401"/>
                </a:lnTo>
                <a:lnTo>
                  <a:pt x="0" y="11474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435241" y="876300"/>
            <a:ext cx="10247231" cy="1392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8"/>
              </a:lnSpc>
            </a:pPr>
            <a:r>
              <a:rPr lang="en-US" b="true" sz="819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LITERATURE REVIEW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13736" y="3038844"/>
            <a:ext cx="15690242" cy="5114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87652" indent="-393826" lvl="1">
              <a:lnSpc>
                <a:spcPts val="5103"/>
              </a:lnSpc>
              <a:buFont typeface="Arial"/>
              <a:buChar char="•"/>
            </a:pPr>
            <a:r>
              <a:rPr lang="en-US" sz="3648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Researchers use machine learning and computer vision </a:t>
            </a:r>
            <a:r>
              <a:rPr lang="en-US" sz="3648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for gesture recognition.</a:t>
            </a:r>
          </a:p>
          <a:p>
            <a:pPr algn="l" marL="787652" indent="-393826" lvl="1">
              <a:lnSpc>
                <a:spcPts val="5103"/>
              </a:lnSpc>
              <a:buFont typeface="Arial"/>
              <a:buChar char="•"/>
            </a:pPr>
            <a:r>
              <a:rPr lang="en-US" sz="3648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Many systems use CNN (Convolutional Neural Networks) for detecting gestures.</a:t>
            </a:r>
          </a:p>
          <a:p>
            <a:pPr algn="l" marL="787652" indent="-393826" lvl="1">
              <a:lnSpc>
                <a:spcPts val="5103"/>
              </a:lnSpc>
              <a:buFont typeface="Arial"/>
              <a:buChar char="•"/>
            </a:pPr>
            <a:r>
              <a:rPr lang="en-US" sz="3648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Vision-based systems use cameras and image processing.</a:t>
            </a:r>
          </a:p>
          <a:p>
            <a:pPr algn="l" marL="787652" indent="-393826" lvl="1">
              <a:lnSpc>
                <a:spcPts val="5103"/>
              </a:lnSpc>
              <a:buFont typeface="Arial"/>
              <a:buChar char="•"/>
            </a:pPr>
            <a:r>
              <a:rPr lang="en-US" sz="3648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AI t</a:t>
            </a:r>
            <a:r>
              <a:rPr lang="en-US" sz="3648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echniques improve accuracy and performance in gesture recognition.</a:t>
            </a:r>
          </a:p>
          <a:p>
            <a:pPr algn="l">
              <a:lnSpc>
                <a:spcPts val="5107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488347" y="-1134332"/>
            <a:ext cx="1080716" cy="3101350"/>
          </a:xfrm>
          <a:custGeom>
            <a:avLst/>
            <a:gdLst/>
            <a:ahLst/>
            <a:cxnLst/>
            <a:rect r="r" b="b" t="t" l="l"/>
            <a:pathLst>
              <a:path h="3101350" w="1080716">
                <a:moveTo>
                  <a:pt x="0" y="0"/>
                </a:moveTo>
                <a:lnTo>
                  <a:pt x="1080716" y="0"/>
                </a:lnTo>
                <a:lnTo>
                  <a:pt x="1080716" y="3101349"/>
                </a:lnTo>
                <a:lnTo>
                  <a:pt x="0" y="31013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488347" y="0"/>
            <a:ext cx="1910420" cy="1967017"/>
            <a:chOff x="0" y="0"/>
            <a:chExt cx="2547226" cy="26226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547239" cy="2622677"/>
            </a:xfrm>
            <a:custGeom>
              <a:avLst/>
              <a:gdLst/>
              <a:ahLst/>
              <a:cxnLst/>
              <a:rect r="r" b="b" t="t" l="l"/>
              <a:pathLst>
                <a:path h="2622677" w="2547239">
                  <a:moveTo>
                    <a:pt x="0" y="0"/>
                  </a:moveTo>
                  <a:lnTo>
                    <a:pt x="2547239" y="0"/>
                  </a:lnTo>
                  <a:lnTo>
                    <a:pt x="2547239" y="2622677"/>
                  </a:lnTo>
                  <a:lnTo>
                    <a:pt x="0" y="26226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28" r="0" b="-28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18947" y="-1134332"/>
            <a:ext cx="1080716" cy="3101350"/>
          </a:xfrm>
          <a:custGeom>
            <a:avLst/>
            <a:gdLst/>
            <a:ahLst/>
            <a:cxnLst/>
            <a:rect r="r" b="b" t="t" l="l"/>
            <a:pathLst>
              <a:path h="3101350" w="1080716">
                <a:moveTo>
                  <a:pt x="0" y="0"/>
                </a:moveTo>
                <a:lnTo>
                  <a:pt x="1080716" y="0"/>
                </a:lnTo>
                <a:lnTo>
                  <a:pt x="1080716" y="3101349"/>
                </a:lnTo>
                <a:lnTo>
                  <a:pt x="0" y="31013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92096" y="9641100"/>
            <a:ext cx="19672192" cy="1147401"/>
          </a:xfrm>
          <a:custGeom>
            <a:avLst/>
            <a:gdLst/>
            <a:ahLst/>
            <a:cxnLst/>
            <a:rect r="r" b="b" t="t" l="l"/>
            <a:pathLst>
              <a:path h="1147401" w="19672192">
                <a:moveTo>
                  <a:pt x="0" y="0"/>
                </a:moveTo>
                <a:lnTo>
                  <a:pt x="19672192" y="0"/>
                </a:lnTo>
                <a:lnTo>
                  <a:pt x="19672192" y="1147401"/>
                </a:lnTo>
                <a:lnTo>
                  <a:pt x="0" y="11474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398766" y="831109"/>
            <a:ext cx="14114576" cy="1392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8"/>
              </a:lnSpc>
            </a:pPr>
            <a:r>
              <a:rPr lang="en-US" b="true" sz="819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SOFTWARE REQUIREMENTS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69063" y="3850125"/>
            <a:ext cx="16230600" cy="3831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87652" indent="-393826" lvl="1">
              <a:lnSpc>
                <a:spcPts val="5103"/>
              </a:lnSpc>
              <a:buFont typeface="Arial"/>
              <a:buChar char="•"/>
            </a:pPr>
            <a:r>
              <a:rPr lang="en-US" sz="3648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Python – Main programming language used to develop the project.</a:t>
            </a:r>
          </a:p>
          <a:p>
            <a:pPr algn="l" marL="787652" indent="-393826" lvl="1">
              <a:lnSpc>
                <a:spcPts val="5103"/>
              </a:lnSpc>
              <a:buFont typeface="Arial"/>
              <a:buChar char="•"/>
            </a:pPr>
            <a:r>
              <a:rPr lang="en-US" sz="3648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OpenCV – Used for image processing and webcam capture.</a:t>
            </a:r>
          </a:p>
          <a:p>
            <a:pPr algn="l" marL="787652" indent="-393826" lvl="1">
              <a:lnSpc>
                <a:spcPts val="5103"/>
              </a:lnSpc>
              <a:buFont typeface="Arial"/>
              <a:buChar char="•"/>
            </a:pPr>
            <a:r>
              <a:rPr lang="en-US" sz="3648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Med</a:t>
            </a:r>
            <a:r>
              <a:rPr lang="en-US" sz="3648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iaPipe – Detects hand landmarks and tracks hand movements.</a:t>
            </a:r>
          </a:p>
          <a:p>
            <a:pPr algn="l" marL="787652" indent="-393826" lvl="1">
              <a:lnSpc>
                <a:spcPts val="5103"/>
              </a:lnSpc>
              <a:buFont typeface="Arial"/>
              <a:buChar char="•"/>
            </a:pPr>
            <a:r>
              <a:rPr lang="en-US" sz="3648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Nu</a:t>
            </a:r>
            <a:r>
              <a:rPr lang="en-US" sz="3648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mPy – Used for numerical calculations and data processing.</a:t>
            </a:r>
          </a:p>
          <a:p>
            <a:pPr algn="l" marL="787652" indent="-393826" lvl="1">
              <a:lnSpc>
                <a:spcPts val="5103"/>
              </a:lnSpc>
              <a:buFont typeface="Arial"/>
              <a:buChar char="•"/>
            </a:pPr>
            <a:r>
              <a:rPr lang="en-US" sz="3648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Wi</a:t>
            </a:r>
            <a:r>
              <a:rPr lang="en-US" sz="3648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ndows OS – Operating system used to run the project. </a:t>
            </a:r>
          </a:p>
          <a:p>
            <a:pPr algn="l">
              <a:lnSpc>
                <a:spcPts val="5107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488347" y="-1134332"/>
            <a:ext cx="1080716" cy="3101350"/>
          </a:xfrm>
          <a:custGeom>
            <a:avLst/>
            <a:gdLst/>
            <a:ahLst/>
            <a:cxnLst/>
            <a:rect r="r" b="b" t="t" l="l"/>
            <a:pathLst>
              <a:path h="3101350" w="1080716">
                <a:moveTo>
                  <a:pt x="0" y="0"/>
                </a:moveTo>
                <a:lnTo>
                  <a:pt x="1080716" y="0"/>
                </a:lnTo>
                <a:lnTo>
                  <a:pt x="1080716" y="3101349"/>
                </a:lnTo>
                <a:lnTo>
                  <a:pt x="0" y="31013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488347" y="0"/>
            <a:ext cx="1910420" cy="1967017"/>
            <a:chOff x="0" y="0"/>
            <a:chExt cx="2547226" cy="26226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547239" cy="2622677"/>
            </a:xfrm>
            <a:custGeom>
              <a:avLst/>
              <a:gdLst/>
              <a:ahLst/>
              <a:cxnLst/>
              <a:rect r="r" b="b" t="t" l="l"/>
              <a:pathLst>
                <a:path h="2622677" w="2547239">
                  <a:moveTo>
                    <a:pt x="0" y="0"/>
                  </a:moveTo>
                  <a:lnTo>
                    <a:pt x="2547239" y="0"/>
                  </a:lnTo>
                  <a:lnTo>
                    <a:pt x="2547239" y="2622677"/>
                  </a:lnTo>
                  <a:lnTo>
                    <a:pt x="0" y="26226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28" r="0" b="-28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18947" y="-1134332"/>
            <a:ext cx="1080716" cy="3101350"/>
          </a:xfrm>
          <a:custGeom>
            <a:avLst/>
            <a:gdLst/>
            <a:ahLst/>
            <a:cxnLst/>
            <a:rect r="r" b="b" t="t" l="l"/>
            <a:pathLst>
              <a:path h="3101350" w="1080716">
                <a:moveTo>
                  <a:pt x="0" y="0"/>
                </a:moveTo>
                <a:lnTo>
                  <a:pt x="1080716" y="0"/>
                </a:lnTo>
                <a:lnTo>
                  <a:pt x="1080716" y="3101349"/>
                </a:lnTo>
                <a:lnTo>
                  <a:pt x="0" y="31013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92096" y="9641100"/>
            <a:ext cx="19672192" cy="1147401"/>
          </a:xfrm>
          <a:custGeom>
            <a:avLst/>
            <a:gdLst/>
            <a:ahLst/>
            <a:cxnLst/>
            <a:rect r="r" b="b" t="t" l="l"/>
            <a:pathLst>
              <a:path h="1147401" w="19672192">
                <a:moveTo>
                  <a:pt x="0" y="0"/>
                </a:moveTo>
                <a:lnTo>
                  <a:pt x="19672192" y="0"/>
                </a:lnTo>
                <a:lnTo>
                  <a:pt x="19672192" y="1147401"/>
                </a:lnTo>
                <a:lnTo>
                  <a:pt x="0" y="11474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875414" y="574919"/>
            <a:ext cx="8537181" cy="1392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8"/>
              </a:lnSpc>
            </a:pPr>
            <a:r>
              <a:rPr lang="en-US" b="true" sz="819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METHODOLOGY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2936" y="2261355"/>
            <a:ext cx="17096726" cy="6443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4690" indent="-397345" lvl="1">
              <a:lnSpc>
                <a:spcPts val="5149"/>
              </a:lnSpc>
              <a:buFont typeface="Arial"/>
              <a:buChar char="•"/>
            </a:pPr>
            <a:r>
              <a:rPr lang="en-US" sz="368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Gesture Capture: Hand gestures are captured using a webcam.</a:t>
            </a:r>
          </a:p>
          <a:p>
            <a:pPr algn="l" marL="794690" indent="-397345" lvl="1">
              <a:lnSpc>
                <a:spcPts val="5149"/>
              </a:lnSpc>
              <a:buFont typeface="Arial"/>
              <a:buChar char="•"/>
            </a:pPr>
            <a:r>
              <a:rPr lang="en-US" sz="368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Preprocessing: Images are processed to improve quality and remove noise.</a:t>
            </a:r>
          </a:p>
          <a:p>
            <a:pPr algn="l" marL="794690" indent="-397345" lvl="1">
              <a:lnSpc>
                <a:spcPts val="5149"/>
              </a:lnSpc>
              <a:buFont typeface="Arial"/>
              <a:buChar char="•"/>
            </a:pPr>
            <a:r>
              <a:rPr lang="en-US" sz="368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Feature Extraction: MediaPipe extracts 21 hand landmark points</a:t>
            </a:r>
            <a:r>
              <a:rPr lang="en-US" sz="368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.</a:t>
            </a:r>
          </a:p>
          <a:p>
            <a:pPr algn="l" marL="794690" indent="-397345" lvl="1">
              <a:lnSpc>
                <a:spcPts val="5149"/>
              </a:lnSpc>
              <a:buFont typeface="Arial"/>
              <a:buChar char="•"/>
            </a:pPr>
            <a:r>
              <a:rPr lang="en-US" sz="368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Model Training: Extracted features are used to train a neural network model.</a:t>
            </a:r>
          </a:p>
          <a:p>
            <a:pPr algn="l" marL="794690" indent="-397345" lvl="1">
              <a:lnSpc>
                <a:spcPts val="5149"/>
              </a:lnSpc>
              <a:buFont typeface="Arial"/>
              <a:buChar char="•"/>
            </a:pPr>
            <a:r>
              <a:rPr lang="en-US" sz="368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Text Output: Recognized gesture is converted into readable text.</a:t>
            </a:r>
          </a:p>
          <a:p>
            <a:pPr algn="l" marL="794690" indent="-397345" lvl="1">
              <a:lnSpc>
                <a:spcPts val="5149"/>
              </a:lnSpc>
              <a:buFont typeface="Arial"/>
              <a:buChar char="•"/>
            </a:pPr>
            <a:r>
              <a:rPr lang="en-US" sz="368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Waterfall Model: Used because project requirements were c</a:t>
            </a:r>
            <a:r>
              <a:rPr lang="en-US" sz="368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lear and development follows sequential stages.</a:t>
            </a:r>
          </a:p>
          <a:p>
            <a:pPr algn="l">
              <a:lnSpc>
                <a:spcPts val="5152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488347" y="-1134332"/>
            <a:ext cx="1080716" cy="3101350"/>
          </a:xfrm>
          <a:custGeom>
            <a:avLst/>
            <a:gdLst/>
            <a:ahLst/>
            <a:cxnLst/>
            <a:rect r="r" b="b" t="t" l="l"/>
            <a:pathLst>
              <a:path h="3101350" w="1080716">
                <a:moveTo>
                  <a:pt x="0" y="0"/>
                </a:moveTo>
                <a:lnTo>
                  <a:pt x="1080716" y="0"/>
                </a:lnTo>
                <a:lnTo>
                  <a:pt x="1080716" y="3101349"/>
                </a:lnTo>
                <a:lnTo>
                  <a:pt x="0" y="31013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488347" y="0"/>
            <a:ext cx="1910420" cy="1967017"/>
            <a:chOff x="0" y="0"/>
            <a:chExt cx="2547226" cy="26226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547239" cy="2622677"/>
            </a:xfrm>
            <a:custGeom>
              <a:avLst/>
              <a:gdLst/>
              <a:ahLst/>
              <a:cxnLst/>
              <a:rect r="r" b="b" t="t" l="l"/>
              <a:pathLst>
                <a:path h="2622677" w="2547239">
                  <a:moveTo>
                    <a:pt x="0" y="0"/>
                  </a:moveTo>
                  <a:lnTo>
                    <a:pt x="2547239" y="0"/>
                  </a:lnTo>
                  <a:lnTo>
                    <a:pt x="2547239" y="2622677"/>
                  </a:lnTo>
                  <a:lnTo>
                    <a:pt x="0" y="26226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28" r="0" b="-28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18947" y="-1134332"/>
            <a:ext cx="1080716" cy="3101350"/>
          </a:xfrm>
          <a:custGeom>
            <a:avLst/>
            <a:gdLst/>
            <a:ahLst/>
            <a:cxnLst/>
            <a:rect r="r" b="b" t="t" l="l"/>
            <a:pathLst>
              <a:path h="3101350" w="1080716">
                <a:moveTo>
                  <a:pt x="0" y="0"/>
                </a:moveTo>
                <a:lnTo>
                  <a:pt x="1080716" y="0"/>
                </a:lnTo>
                <a:lnTo>
                  <a:pt x="1080716" y="3101349"/>
                </a:lnTo>
                <a:lnTo>
                  <a:pt x="0" y="31013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92096" y="9641100"/>
            <a:ext cx="19672192" cy="1147401"/>
          </a:xfrm>
          <a:custGeom>
            <a:avLst/>
            <a:gdLst/>
            <a:ahLst/>
            <a:cxnLst/>
            <a:rect r="r" b="b" t="t" l="l"/>
            <a:pathLst>
              <a:path h="1147401" w="19672192">
                <a:moveTo>
                  <a:pt x="0" y="0"/>
                </a:moveTo>
                <a:lnTo>
                  <a:pt x="19672192" y="0"/>
                </a:lnTo>
                <a:lnTo>
                  <a:pt x="19672192" y="1147401"/>
                </a:lnTo>
                <a:lnTo>
                  <a:pt x="0" y="11474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876787" y="828688"/>
            <a:ext cx="10828424" cy="1138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85"/>
              </a:lnSpc>
            </a:pPr>
            <a:r>
              <a:rPr lang="en-US" b="true" sz="6703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SY</a:t>
            </a:r>
            <a:r>
              <a:rPr lang="en-US" b="true" sz="6703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STEM ARCHITECTURE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023038" y="3385546"/>
            <a:ext cx="15545985" cy="4760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39217" indent="-419609" lvl="1">
              <a:lnSpc>
                <a:spcPts val="5438"/>
              </a:lnSpc>
              <a:buFont typeface="Arial"/>
              <a:buChar char="•"/>
            </a:pPr>
            <a:r>
              <a:rPr lang="en-US" sz="3887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Camera Input – Captures hand gesture using webcam</a:t>
            </a:r>
          </a:p>
          <a:p>
            <a:pPr algn="l" marL="839217" indent="-419609" lvl="1">
              <a:lnSpc>
                <a:spcPts val="5438"/>
              </a:lnSpc>
              <a:buFont typeface="Arial"/>
              <a:buChar char="•"/>
            </a:pPr>
            <a:r>
              <a:rPr lang="en-US" sz="3887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Hand Detection – MediaPipe detects hand</a:t>
            </a:r>
          </a:p>
          <a:p>
            <a:pPr algn="l" marL="839217" indent="-419609" lvl="1">
              <a:lnSpc>
                <a:spcPts val="5438"/>
              </a:lnSpc>
              <a:buFont typeface="Arial"/>
              <a:buChar char="•"/>
            </a:pPr>
            <a:r>
              <a:rPr lang="en-US" sz="3887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Landma</a:t>
            </a:r>
            <a:r>
              <a:rPr lang="en-US" sz="3887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rk Extraction – 21 hand points are detected</a:t>
            </a:r>
          </a:p>
          <a:p>
            <a:pPr algn="l" marL="839217" indent="-419609" lvl="1">
              <a:lnSpc>
                <a:spcPts val="5438"/>
              </a:lnSpc>
              <a:buFont typeface="Arial"/>
              <a:buChar char="•"/>
            </a:pPr>
            <a:r>
              <a:rPr lang="en-US" sz="3887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Feature Processing – Data is normalized</a:t>
            </a:r>
          </a:p>
          <a:p>
            <a:pPr algn="l" marL="839217" indent="-419609" lvl="1">
              <a:lnSpc>
                <a:spcPts val="5438"/>
              </a:lnSpc>
              <a:buFont typeface="Arial"/>
              <a:buChar char="•"/>
            </a:pPr>
            <a:r>
              <a:rPr lang="en-US" sz="3887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Gesture Classification – Neural network predicts gesture</a:t>
            </a:r>
          </a:p>
          <a:p>
            <a:pPr algn="l" marL="839217" indent="-419609" lvl="1">
              <a:lnSpc>
                <a:spcPts val="5438"/>
              </a:lnSpc>
              <a:buFont typeface="Arial"/>
              <a:buChar char="•"/>
            </a:pPr>
            <a:r>
              <a:rPr lang="en-US" sz="3887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Output M</a:t>
            </a:r>
            <a:r>
              <a:rPr lang="en-US" sz="3887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odule – Shows gesture as text </a:t>
            </a:r>
          </a:p>
          <a:p>
            <a:pPr algn="l">
              <a:lnSpc>
                <a:spcPts val="5441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488347" y="-1134332"/>
            <a:ext cx="1080716" cy="3101350"/>
          </a:xfrm>
          <a:custGeom>
            <a:avLst/>
            <a:gdLst/>
            <a:ahLst/>
            <a:cxnLst/>
            <a:rect r="r" b="b" t="t" l="l"/>
            <a:pathLst>
              <a:path h="3101350" w="1080716">
                <a:moveTo>
                  <a:pt x="0" y="0"/>
                </a:moveTo>
                <a:lnTo>
                  <a:pt x="1080716" y="0"/>
                </a:lnTo>
                <a:lnTo>
                  <a:pt x="1080716" y="3101349"/>
                </a:lnTo>
                <a:lnTo>
                  <a:pt x="0" y="31013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488347" y="0"/>
            <a:ext cx="1910420" cy="1967017"/>
            <a:chOff x="0" y="0"/>
            <a:chExt cx="2547226" cy="26226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547239" cy="2622677"/>
            </a:xfrm>
            <a:custGeom>
              <a:avLst/>
              <a:gdLst/>
              <a:ahLst/>
              <a:cxnLst/>
              <a:rect r="r" b="b" t="t" l="l"/>
              <a:pathLst>
                <a:path h="2622677" w="2547239">
                  <a:moveTo>
                    <a:pt x="0" y="0"/>
                  </a:moveTo>
                  <a:lnTo>
                    <a:pt x="2547239" y="0"/>
                  </a:lnTo>
                  <a:lnTo>
                    <a:pt x="2547239" y="2622677"/>
                  </a:lnTo>
                  <a:lnTo>
                    <a:pt x="0" y="26226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28" r="0" b="-28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905357" y="2648762"/>
            <a:ext cx="15300842" cy="497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80"/>
              </a:lnSpc>
              <a:spcBef>
                <a:spcPct val="0"/>
              </a:spcBef>
            </a:pPr>
            <a:r>
              <a:rPr lang="en-US" b="true" sz="2914" i="true">
                <a:solidFill>
                  <a:srgbClr val="000000"/>
                </a:solidFill>
                <a:latin typeface="Century Gothic Paneuropean Bold Italics"/>
                <a:ea typeface="Century Gothic Paneuropean Bold Italics"/>
                <a:cs typeface="Century Gothic Paneuropean Bold Italics"/>
                <a:sym typeface="Century Gothic Paneuropean Bold Italics"/>
              </a:rPr>
              <a:t>CAMERA → MEDIAPIPE → LANDMARK EXTRACTION → NEURAL NETWORK → TEXT OUTPUT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18947" y="-1134332"/>
            <a:ext cx="1080716" cy="3101350"/>
          </a:xfrm>
          <a:custGeom>
            <a:avLst/>
            <a:gdLst/>
            <a:ahLst/>
            <a:cxnLst/>
            <a:rect r="r" b="b" t="t" l="l"/>
            <a:pathLst>
              <a:path h="3101350" w="1080716">
                <a:moveTo>
                  <a:pt x="0" y="0"/>
                </a:moveTo>
                <a:lnTo>
                  <a:pt x="1080716" y="0"/>
                </a:lnTo>
                <a:lnTo>
                  <a:pt x="1080716" y="3101349"/>
                </a:lnTo>
                <a:lnTo>
                  <a:pt x="0" y="31013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92096" y="9641100"/>
            <a:ext cx="19672192" cy="1147401"/>
          </a:xfrm>
          <a:custGeom>
            <a:avLst/>
            <a:gdLst/>
            <a:ahLst/>
            <a:cxnLst/>
            <a:rect r="r" b="b" t="t" l="l"/>
            <a:pathLst>
              <a:path h="1147401" w="19672192">
                <a:moveTo>
                  <a:pt x="0" y="0"/>
                </a:moveTo>
                <a:lnTo>
                  <a:pt x="19672192" y="0"/>
                </a:lnTo>
                <a:lnTo>
                  <a:pt x="19672192" y="1147401"/>
                </a:lnTo>
                <a:lnTo>
                  <a:pt x="0" y="11474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88347" y="-1134332"/>
            <a:ext cx="1080716" cy="3101350"/>
          </a:xfrm>
          <a:custGeom>
            <a:avLst/>
            <a:gdLst/>
            <a:ahLst/>
            <a:cxnLst/>
            <a:rect r="r" b="b" t="t" l="l"/>
            <a:pathLst>
              <a:path h="3101350" w="1080716">
                <a:moveTo>
                  <a:pt x="0" y="0"/>
                </a:moveTo>
                <a:lnTo>
                  <a:pt x="1080716" y="0"/>
                </a:lnTo>
                <a:lnTo>
                  <a:pt x="1080716" y="3101349"/>
                </a:lnTo>
                <a:lnTo>
                  <a:pt x="0" y="31013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88347" y="0"/>
            <a:ext cx="1910420" cy="1967017"/>
            <a:chOff x="0" y="0"/>
            <a:chExt cx="2547226" cy="262269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47239" cy="2622677"/>
            </a:xfrm>
            <a:custGeom>
              <a:avLst/>
              <a:gdLst/>
              <a:ahLst/>
              <a:cxnLst/>
              <a:rect r="r" b="b" t="t" l="l"/>
              <a:pathLst>
                <a:path h="2622677" w="2547239">
                  <a:moveTo>
                    <a:pt x="0" y="0"/>
                  </a:moveTo>
                  <a:lnTo>
                    <a:pt x="2547239" y="0"/>
                  </a:lnTo>
                  <a:lnTo>
                    <a:pt x="2547239" y="2622677"/>
                  </a:lnTo>
                  <a:lnTo>
                    <a:pt x="0" y="26226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28" r="0" b="-28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5240547" y="5143500"/>
            <a:ext cx="5751793" cy="3429507"/>
          </a:xfrm>
          <a:custGeom>
            <a:avLst/>
            <a:gdLst/>
            <a:ahLst/>
            <a:cxnLst/>
            <a:rect r="r" b="b" t="t" l="l"/>
            <a:pathLst>
              <a:path h="3429507" w="5751793">
                <a:moveTo>
                  <a:pt x="0" y="0"/>
                </a:moveTo>
                <a:lnTo>
                  <a:pt x="5751793" y="0"/>
                </a:lnTo>
                <a:lnTo>
                  <a:pt x="5751793" y="3429507"/>
                </a:lnTo>
                <a:lnTo>
                  <a:pt x="0" y="342950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150870" y="1900342"/>
            <a:ext cx="14568077" cy="7164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1337" indent="-365669" lvl="1">
              <a:lnSpc>
                <a:spcPts val="4738"/>
              </a:lnSpc>
              <a:buFont typeface="Arial"/>
              <a:buChar char="•"/>
            </a:pPr>
            <a:r>
              <a:rPr lang="en-US" sz="3387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Dataset contains images of d</a:t>
            </a:r>
            <a:r>
              <a:rPr lang="en-US" sz="3387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ifferent hand gestures.</a:t>
            </a:r>
          </a:p>
          <a:p>
            <a:pPr algn="l" marL="731337" indent="-365669" lvl="1">
              <a:lnSpc>
                <a:spcPts val="4738"/>
              </a:lnSpc>
              <a:buFont typeface="Arial"/>
              <a:buChar char="•"/>
            </a:pPr>
            <a:r>
              <a:rPr lang="en-US" sz="3387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Gesture samples are collected using a webcam.</a:t>
            </a:r>
          </a:p>
          <a:p>
            <a:pPr algn="l" marL="731337" indent="-365669" lvl="1">
              <a:lnSpc>
                <a:spcPts val="4738"/>
              </a:lnSpc>
              <a:buFont typeface="Arial"/>
              <a:buChar char="•"/>
            </a:pPr>
            <a:r>
              <a:rPr lang="en-US" sz="3387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Public datasets like ASL Alphabet Dataset are also used.</a:t>
            </a:r>
          </a:p>
          <a:p>
            <a:pPr algn="l" marL="731337" indent="-365669" lvl="1">
              <a:lnSpc>
                <a:spcPts val="4738"/>
              </a:lnSpc>
              <a:buFont typeface="Arial"/>
              <a:buChar char="•"/>
            </a:pPr>
            <a:r>
              <a:rPr lang="en-US" sz="3387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Each gesture has multiple samples for better accuracy.</a:t>
            </a:r>
          </a:p>
          <a:p>
            <a:pPr algn="l" marL="731337" indent="-365669" lvl="1">
              <a:lnSpc>
                <a:spcPts val="4738"/>
              </a:lnSpc>
              <a:buFont typeface="Arial"/>
              <a:buChar char="•"/>
            </a:pPr>
            <a:r>
              <a:rPr lang="en-US" sz="3387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Dataset includes gestures such as:</a:t>
            </a:r>
          </a:p>
          <a:p>
            <a:pPr algn="l" marL="731337" indent="-365669" lvl="1">
              <a:lnSpc>
                <a:spcPts val="4738"/>
              </a:lnSpc>
              <a:buAutoNum type="arabicPeriod" startAt="1"/>
            </a:pPr>
            <a:r>
              <a:rPr lang="en-US" sz="3387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Hello</a:t>
            </a:r>
          </a:p>
          <a:p>
            <a:pPr algn="l" marL="731337" indent="-365669" lvl="1">
              <a:lnSpc>
                <a:spcPts val="4738"/>
              </a:lnSpc>
              <a:buAutoNum type="arabicPeriod" startAt="1"/>
            </a:pPr>
            <a:r>
              <a:rPr lang="en-US" sz="3387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Thank You</a:t>
            </a:r>
          </a:p>
          <a:p>
            <a:pPr algn="l" marL="731337" indent="-365669" lvl="1">
              <a:lnSpc>
                <a:spcPts val="4738"/>
              </a:lnSpc>
              <a:buAutoNum type="arabicPeriod" startAt="1"/>
            </a:pPr>
            <a:r>
              <a:rPr lang="en-US" sz="3387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Yes</a:t>
            </a:r>
          </a:p>
          <a:p>
            <a:pPr algn="l" marL="731337" indent="-365669" lvl="1">
              <a:lnSpc>
                <a:spcPts val="4738"/>
              </a:lnSpc>
              <a:buAutoNum type="arabicPeriod" startAt="1"/>
            </a:pPr>
            <a:r>
              <a:rPr lang="en-US" sz="3387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No</a:t>
            </a:r>
          </a:p>
          <a:p>
            <a:pPr algn="l" marL="731337" indent="-365669" lvl="1">
              <a:lnSpc>
                <a:spcPts val="4738"/>
              </a:lnSpc>
              <a:buAutoNum type="arabicPeriod" startAt="1"/>
            </a:pPr>
            <a:r>
              <a:rPr lang="en-US" sz="3387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Please</a:t>
            </a:r>
          </a:p>
          <a:p>
            <a:pPr algn="l">
              <a:lnSpc>
                <a:spcPts val="4738"/>
              </a:lnSpc>
            </a:pPr>
          </a:p>
          <a:p>
            <a:pPr algn="l">
              <a:lnSpc>
                <a:spcPts val="4742"/>
              </a:lnSpc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1348511" y="5331626"/>
            <a:ext cx="5711684" cy="3241381"/>
          </a:xfrm>
          <a:custGeom>
            <a:avLst/>
            <a:gdLst/>
            <a:ahLst/>
            <a:cxnLst/>
            <a:rect r="r" b="b" t="t" l="l"/>
            <a:pathLst>
              <a:path h="3241381" w="5711684">
                <a:moveTo>
                  <a:pt x="0" y="0"/>
                </a:moveTo>
                <a:lnTo>
                  <a:pt x="5711685" y="0"/>
                </a:lnTo>
                <a:lnTo>
                  <a:pt x="5711685" y="3241381"/>
                </a:lnTo>
                <a:lnTo>
                  <a:pt x="0" y="324138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164780" y="263943"/>
            <a:ext cx="11089102" cy="1392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8"/>
              </a:lnSpc>
            </a:pPr>
            <a:r>
              <a:rPr lang="en-US" b="true" sz="819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DATASET </a:t>
            </a:r>
            <a:r>
              <a:rPr lang="en-US" b="true" sz="819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DESCRIPTION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18947" y="-1134332"/>
            <a:ext cx="1080716" cy="3101350"/>
          </a:xfrm>
          <a:custGeom>
            <a:avLst/>
            <a:gdLst/>
            <a:ahLst/>
            <a:cxnLst/>
            <a:rect r="r" b="b" t="t" l="l"/>
            <a:pathLst>
              <a:path h="3101350" w="1080716">
                <a:moveTo>
                  <a:pt x="0" y="0"/>
                </a:moveTo>
                <a:lnTo>
                  <a:pt x="1080716" y="0"/>
                </a:lnTo>
                <a:lnTo>
                  <a:pt x="1080716" y="3101349"/>
                </a:lnTo>
                <a:lnTo>
                  <a:pt x="0" y="31013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92096" y="9641100"/>
            <a:ext cx="19672192" cy="1147401"/>
          </a:xfrm>
          <a:custGeom>
            <a:avLst/>
            <a:gdLst/>
            <a:ahLst/>
            <a:cxnLst/>
            <a:rect r="r" b="b" t="t" l="l"/>
            <a:pathLst>
              <a:path h="1147401" w="19672192">
                <a:moveTo>
                  <a:pt x="0" y="0"/>
                </a:moveTo>
                <a:lnTo>
                  <a:pt x="19672192" y="0"/>
                </a:lnTo>
                <a:lnTo>
                  <a:pt x="19672192" y="1147401"/>
                </a:lnTo>
                <a:lnTo>
                  <a:pt x="0" y="11474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707666" y="821584"/>
            <a:ext cx="8872678" cy="1450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19"/>
              </a:lnSpc>
            </a:pPr>
            <a:r>
              <a:rPr lang="en-US" b="true" sz="8513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RESULTS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43557" y="3054355"/>
            <a:ext cx="16532912" cy="4545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02323" indent="-401162" lvl="1">
              <a:lnSpc>
                <a:spcPts val="5198"/>
              </a:lnSpc>
              <a:buFont typeface="Arial"/>
              <a:buChar char="•"/>
            </a:pPr>
            <a:r>
              <a:rPr lang="en-US" sz="371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System Accuracy under D</a:t>
            </a:r>
            <a:r>
              <a:rPr lang="en-US" sz="371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ifferent Lighting Conditions</a:t>
            </a:r>
          </a:p>
          <a:p>
            <a:pPr algn="l" marL="802323" indent="-401162" lvl="1">
              <a:lnSpc>
                <a:spcPts val="5198"/>
              </a:lnSpc>
              <a:buFont typeface="Arial"/>
              <a:buChar char="•"/>
            </a:pPr>
            <a:r>
              <a:rPr lang="en-US" sz="371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Good lighting – 95% accuracy</a:t>
            </a:r>
          </a:p>
          <a:p>
            <a:pPr algn="l" marL="802323" indent="-401162" lvl="1">
              <a:lnSpc>
                <a:spcPts val="5198"/>
              </a:lnSpc>
              <a:buFont typeface="Arial"/>
              <a:buChar char="•"/>
            </a:pPr>
            <a:r>
              <a:rPr lang="en-US" sz="371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</a:t>
            </a:r>
            <a:r>
              <a:rPr lang="en-US" sz="371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edium lighting – 88% accuracy</a:t>
            </a:r>
          </a:p>
          <a:p>
            <a:pPr algn="l" marL="802323" indent="-401162" lvl="1">
              <a:lnSpc>
                <a:spcPts val="5198"/>
              </a:lnSpc>
              <a:buFont typeface="Arial"/>
              <a:buChar char="•"/>
            </a:pPr>
            <a:r>
              <a:rPr lang="en-US" sz="371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Poor lighting – 75% accuracy</a:t>
            </a:r>
          </a:p>
          <a:p>
            <a:pPr algn="l" marL="802323" indent="-401162" lvl="1">
              <a:lnSpc>
                <a:spcPts val="5198"/>
              </a:lnSpc>
              <a:buFont typeface="Arial"/>
              <a:buChar char="•"/>
            </a:pPr>
            <a:r>
              <a:rPr lang="en-US" sz="371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The system successfully recognizes basic gestures and converts them into text.</a:t>
            </a:r>
          </a:p>
          <a:p>
            <a:pPr algn="l">
              <a:lnSpc>
                <a:spcPts val="5202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488347" y="-1134332"/>
            <a:ext cx="1080716" cy="3101350"/>
          </a:xfrm>
          <a:custGeom>
            <a:avLst/>
            <a:gdLst/>
            <a:ahLst/>
            <a:cxnLst/>
            <a:rect r="r" b="b" t="t" l="l"/>
            <a:pathLst>
              <a:path h="3101350" w="1080716">
                <a:moveTo>
                  <a:pt x="0" y="0"/>
                </a:moveTo>
                <a:lnTo>
                  <a:pt x="1080716" y="0"/>
                </a:lnTo>
                <a:lnTo>
                  <a:pt x="1080716" y="3101349"/>
                </a:lnTo>
                <a:lnTo>
                  <a:pt x="0" y="31013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488347" y="0"/>
            <a:ext cx="1910420" cy="1967017"/>
            <a:chOff x="0" y="0"/>
            <a:chExt cx="2547226" cy="26226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547239" cy="2622677"/>
            </a:xfrm>
            <a:custGeom>
              <a:avLst/>
              <a:gdLst/>
              <a:ahLst/>
              <a:cxnLst/>
              <a:rect r="r" b="b" t="t" l="l"/>
              <a:pathLst>
                <a:path h="2622677" w="2547239">
                  <a:moveTo>
                    <a:pt x="0" y="0"/>
                  </a:moveTo>
                  <a:lnTo>
                    <a:pt x="2547239" y="0"/>
                  </a:lnTo>
                  <a:lnTo>
                    <a:pt x="2547239" y="2622677"/>
                  </a:lnTo>
                  <a:lnTo>
                    <a:pt x="0" y="26226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28" r="0" b="-28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18947" y="-1134332"/>
            <a:ext cx="1080716" cy="3101350"/>
          </a:xfrm>
          <a:custGeom>
            <a:avLst/>
            <a:gdLst/>
            <a:ahLst/>
            <a:cxnLst/>
            <a:rect r="r" b="b" t="t" l="l"/>
            <a:pathLst>
              <a:path h="3101350" w="1080716">
                <a:moveTo>
                  <a:pt x="0" y="0"/>
                </a:moveTo>
                <a:lnTo>
                  <a:pt x="1080716" y="0"/>
                </a:lnTo>
                <a:lnTo>
                  <a:pt x="1080716" y="3101349"/>
                </a:lnTo>
                <a:lnTo>
                  <a:pt x="0" y="31013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92096" y="9641100"/>
            <a:ext cx="19672192" cy="1147401"/>
          </a:xfrm>
          <a:custGeom>
            <a:avLst/>
            <a:gdLst/>
            <a:ahLst/>
            <a:cxnLst/>
            <a:rect r="r" b="b" t="t" l="l"/>
            <a:pathLst>
              <a:path h="1147401" w="19672192">
                <a:moveTo>
                  <a:pt x="0" y="0"/>
                </a:moveTo>
                <a:lnTo>
                  <a:pt x="19672192" y="0"/>
                </a:lnTo>
                <a:lnTo>
                  <a:pt x="19672192" y="1147401"/>
                </a:lnTo>
                <a:lnTo>
                  <a:pt x="0" y="11474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875414" y="1118559"/>
            <a:ext cx="8268467" cy="1360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108"/>
              </a:lnSpc>
            </a:pPr>
            <a:r>
              <a:rPr lang="en-US" b="true" sz="7934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</a:t>
            </a:r>
            <a:r>
              <a:rPr lang="en-US" b="true" sz="7934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APP</a:t>
            </a:r>
            <a:r>
              <a:rPr lang="en-US" b="true" sz="7934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LICATIONS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257793" y="3405051"/>
            <a:ext cx="13182308" cy="3410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45673" indent="-422836" lvl="1">
              <a:lnSpc>
                <a:spcPts val="5479"/>
              </a:lnSpc>
              <a:buFont typeface="Arial"/>
              <a:buChar char="•"/>
            </a:pPr>
            <a:r>
              <a:rPr lang="en-US" sz="391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Communication support </a:t>
            </a:r>
            <a:r>
              <a:rPr lang="en-US" sz="391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for deaf people</a:t>
            </a:r>
          </a:p>
          <a:p>
            <a:pPr algn="l" marL="845673" indent="-422836" lvl="1">
              <a:lnSpc>
                <a:spcPts val="5479"/>
              </a:lnSpc>
              <a:buFont typeface="Arial"/>
              <a:buChar char="•"/>
            </a:pPr>
            <a:r>
              <a:rPr lang="en-US" sz="391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Educational tools for learning sign language</a:t>
            </a:r>
          </a:p>
          <a:p>
            <a:pPr algn="l" marL="845673" indent="-422836" lvl="1">
              <a:lnSpc>
                <a:spcPts val="5479"/>
              </a:lnSpc>
              <a:buFont typeface="Arial"/>
              <a:buChar char="•"/>
            </a:pPr>
            <a:r>
              <a:rPr lang="en-US" sz="391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Ass</a:t>
            </a:r>
            <a:r>
              <a:rPr lang="en-US" sz="391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istive technology for accessibility</a:t>
            </a:r>
          </a:p>
          <a:p>
            <a:pPr algn="l" marL="845673" indent="-422836" lvl="1">
              <a:lnSpc>
                <a:spcPts val="5479"/>
              </a:lnSpc>
              <a:buFont typeface="Arial"/>
              <a:buChar char="•"/>
            </a:pPr>
            <a:r>
              <a:rPr lang="en-US" sz="391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Human–computer interaction systems</a:t>
            </a:r>
          </a:p>
          <a:p>
            <a:pPr algn="l">
              <a:lnSpc>
                <a:spcPts val="5483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488347" y="-1134332"/>
            <a:ext cx="1080716" cy="3101350"/>
          </a:xfrm>
          <a:custGeom>
            <a:avLst/>
            <a:gdLst/>
            <a:ahLst/>
            <a:cxnLst/>
            <a:rect r="r" b="b" t="t" l="l"/>
            <a:pathLst>
              <a:path h="3101350" w="1080716">
                <a:moveTo>
                  <a:pt x="0" y="0"/>
                </a:moveTo>
                <a:lnTo>
                  <a:pt x="1080716" y="0"/>
                </a:lnTo>
                <a:lnTo>
                  <a:pt x="1080716" y="3101349"/>
                </a:lnTo>
                <a:lnTo>
                  <a:pt x="0" y="31013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488347" y="0"/>
            <a:ext cx="1910420" cy="1967017"/>
            <a:chOff x="0" y="0"/>
            <a:chExt cx="2547226" cy="26226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547239" cy="2622677"/>
            </a:xfrm>
            <a:custGeom>
              <a:avLst/>
              <a:gdLst/>
              <a:ahLst/>
              <a:cxnLst/>
              <a:rect r="r" b="b" t="t" l="l"/>
              <a:pathLst>
                <a:path h="2622677" w="2547239">
                  <a:moveTo>
                    <a:pt x="0" y="0"/>
                  </a:moveTo>
                  <a:lnTo>
                    <a:pt x="2547239" y="0"/>
                  </a:lnTo>
                  <a:lnTo>
                    <a:pt x="2547239" y="2622677"/>
                  </a:lnTo>
                  <a:lnTo>
                    <a:pt x="0" y="26226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28" r="0" b="-28"/>
              </a:stretch>
            </a:blipFill>
          </p:spPr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18947" y="-1134332"/>
            <a:ext cx="1080716" cy="3101350"/>
          </a:xfrm>
          <a:custGeom>
            <a:avLst/>
            <a:gdLst/>
            <a:ahLst/>
            <a:cxnLst/>
            <a:rect r="r" b="b" t="t" l="l"/>
            <a:pathLst>
              <a:path h="3101350" w="1080716">
                <a:moveTo>
                  <a:pt x="0" y="0"/>
                </a:moveTo>
                <a:lnTo>
                  <a:pt x="1080716" y="0"/>
                </a:lnTo>
                <a:lnTo>
                  <a:pt x="1080716" y="3101349"/>
                </a:lnTo>
                <a:lnTo>
                  <a:pt x="0" y="31013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92096" y="9641100"/>
            <a:ext cx="19672192" cy="1147401"/>
          </a:xfrm>
          <a:custGeom>
            <a:avLst/>
            <a:gdLst/>
            <a:ahLst/>
            <a:cxnLst/>
            <a:rect r="r" b="b" t="t" l="l"/>
            <a:pathLst>
              <a:path h="1147401" w="19672192">
                <a:moveTo>
                  <a:pt x="0" y="0"/>
                </a:moveTo>
                <a:lnTo>
                  <a:pt x="19672192" y="0"/>
                </a:lnTo>
                <a:lnTo>
                  <a:pt x="19672192" y="1147401"/>
                </a:lnTo>
                <a:lnTo>
                  <a:pt x="0" y="11474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875414" y="1118559"/>
            <a:ext cx="8537181" cy="1392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8"/>
              </a:lnSpc>
            </a:pPr>
            <a:r>
              <a:rPr lang="en-US" b="true" sz="819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CONCLUSION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15529" y="3468855"/>
            <a:ext cx="17072471" cy="4607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13397" indent="-406699" lvl="1">
              <a:lnSpc>
                <a:spcPts val="5270"/>
              </a:lnSpc>
              <a:buFont typeface="Arial"/>
              <a:buChar char="•"/>
            </a:pPr>
            <a:r>
              <a:rPr lang="en-US" sz="3767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Sign language recognition helps r</a:t>
            </a:r>
            <a:r>
              <a:rPr lang="en-US" sz="3767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educe communication barriers.</a:t>
            </a:r>
          </a:p>
          <a:p>
            <a:pPr algn="l" marL="813397" indent="-406699" lvl="1">
              <a:lnSpc>
                <a:spcPts val="5270"/>
              </a:lnSpc>
              <a:buFont typeface="Arial"/>
              <a:buChar char="•"/>
            </a:pPr>
            <a:r>
              <a:rPr lang="en-US" sz="3767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AI </a:t>
            </a:r>
            <a:r>
              <a:rPr lang="en-US" sz="3767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and computer vision make gesture detection possible.</a:t>
            </a:r>
          </a:p>
          <a:p>
            <a:pPr algn="l" marL="813397" indent="-406699" lvl="1">
              <a:lnSpc>
                <a:spcPts val="5270"/>
              </a:lnSpc>
              <a:buFont typeface="Arial"/>
              <a:buChar char="•"/>
            </a:pPr>
            <a:r>
              <a:rPr lang="en-US" sz="3767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The system successfully converts gestures into text.</a:t>
            </a:r>
          </a:p>
          <a:p>
            <a:pPr algn="l" marL="813397" indent="-406699" lvl="1">
              <a:lnSpc>
                <a:spcPts val="5270"/>
              </a:lnSpc>
              <a:buFont typeface="Arial"/>
              <a:buChar char="•"/>
            </a:pPr>
            <a:r>
              <a:rPr lang="en-US" sz="3767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The project demonstrates a practical assistive technology</a:t>
            </a:r>
          </a:p>
          <a:p>
            <a:pPr algn="l" marL="813397" indent="-406699" lvl="1">
              <a:lnSpc>
                <a:spcPts val="5270"/>
              </a:lnSpc>
              <a:buFont typeface="Arial"/>
              <a:buChar char="•"/>
            </a:pPr>
            <a:r>
              <a:rPr lang="en-US" sz="3767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The system can be further improved with more gestures and voice output.</a:t>
            </a:r>
          </a:p>
          <a:p>
            <a:pPr algn="l">
              <a:lnSpc>
                <a:spcPts val="5274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488347" y="-1134332"/>
            <a:ext cx="1080716" cy="3101350"/>
          </a:xfrm>
          <a:custGeom>
            <a:avLst/>
            <a:gdLst/>
            <a:ahLst/>
            <a:cxnLst/>
            <a:rect r="r" b="b" t="t" l="l"/>
            <a:pathLst>
              <a:path h="3101350" w="1080716">
                <a:moveTo>
                  <a:pt x="0" y="0"/>
                </a:moveTo>
                <a:lnTo>
                  <a:pt x="1080716" y="0"/>
                </a:lnTo>
                <a:lnTo>
                  <a:pt x="1080716" y="3101349"/>
                </a:lnTo>
                <a:lnTo>
                  <a:pt x="0" y="31013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488347" y="0"/>
            <a:ext cx="1910420" cy="1967017"/>
            <a:chOff x="0" y="0"/>
            <a:chExt cx="2547226" cy="26226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547239" cy="2622677"/>
            </a:xfrm>
            <a:custGeom>
              <a:avLst/>
              <a:gdLst/>
              <a:ahLst/>
              <a:cxnLst/>
              <a:rect r="r" b="b" t="t" l="l"/>
              <a:pathLst>
                <a:path h="2622677" w="2547239">
                  <a:moveTo>
                    <a:pt x="0" y="0"/>
                  </a:moveTo>
                  <a:lnTo>
                    <a:pt x="2547239" y="0"/>
                  </a:lnTo>
                  <a:lnTo>
                    <a:pt x="2547239" y="2622677"/>
                  </a:lnTo>
                  <a:lnTo>
                    <a:pt x="0" y="26226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28" r="0" b="-28"/>
              </a:stretch>
            </a:blipFill>
          </p:spPr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18947" y="-1134332"/>
            <a:ext cx="1080716" cy="3101350"/>
          </a:xfrm>
          <a:custGeom>
            <a:avLst/>
            <a:gdLst/>
            <a:ahLst/>
            <a:cxnLst/>
            <a:rect r="r" b="b" t="t" l="l"/>
            <a:pathLst>
              <a:path h="3101350" w="1080716">
                <a:moveTo>
                  <a:pt x="0" y="0"/>
                </a:moveTo>
                <a:lnTo>
                  <a:pt x="1080716" y="0"/>
                </a:lnTo>
                <a:lnTo>
                  <a:pt x="1080716" y="3101349"/>
                </a:lnTo>
                <a:lnTo>
                  <a:pt x="0" y="31013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92096" y="9641100"/>
            <a:ext cx="19672192" cy="1147401"/>
          </a:xfrm>
          <a:custGeom>
            <a:avLst/>
            <a:gdLst/>
            <a:ahLst/>
            <a:cxnLst/>
            <a:rect r="r" b="b" t="t" l="l"/>
            <a:pathLst>
              <a:path h="1147401" w="19672192">
                <a:moveTo>
                  <a:pt x="0" y="0"/>
                </a:moveTo>
                <a:lnTo>
                  <a:pt x="19672192" y="0"/>
                </a:lnTo>
                <a:lnTo>
                  <a:pt x="19672192" y="1147401"/>
                </a:lnTo>
                <a:lnTo>
                  <a:pt x="0" y="11474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728075" y="3464427"/>
            <a:ext cx="12831851" cy="2101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238"/>
              </a:lnSpc>
            </a:pPr>
            <a:r>
              <a:rPr lang="en-US" sz="12313" b="true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THANK YOU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488347" y="-1134332"/>
            <a:ext cx="1080716" cy="3101350"/>
          </a:xfrm>
          <a:custGeom>
            <a:avLst/>
            <a:gdLst/>
            <a:ahLst/>
            <a:cxnLst/>
            <a:rect r="r" b="b" t="t" l="l"/>
            <a:pathLst>
              <a:path h="3101350" w="1080716">
                <a:moveTo>
                  <a:pt x="0" y="0"/>
                </a:moveTo>
                <a:lnTo>
                  <a:pt x="1080716" y="0"/>
                </a:lnTo>
                <a:lnTo>
                  <a:pt x="1080716" y="3101349"/>
                </a:lnTo>
                <a:lnTo>
                  <a:pt x="0" y="31013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488347" y="0"/>
            <a:ext cx="1910420" cy="1967017"/>
            <a:chOff x="0" y="0"/>
            <a:chExt cx="2547226" cy="26226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547239" cy="2622677"/>
            </a:xfrm>
            <a:custGeom>
              <a:avLst/>
              <a:gdLst/>
              <a:ahLst/>
              <a:cxnLst/>
              <a:rect r="r" b="b" t="t" l="l"/>
              <a:pathLst>
                <a:path h="2622677" w="2547239">
                  <a:moveTo>
                    <a:pt x="0" y="0"/>
                  </a:moveTo>
                  <a:lnTo>
                    <a:pt x="2547239" y="0"/>
                  </a:lnTo>
                  <a:lnTo>
                    <a:pt x="2547239" y="2622677"/>
                  </a:lnTo>
                  <a:lnTo>
                    <a:pt x="0" y="26226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28" r="0" b="-28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DAHARnC1_xo</dc:identifier>
  <dcterms:modified xsi:type="dcterms:W3CDTF">2011-08-01T06:04:30Z</dcterms:modified>
  <cp:revision>1</cp:revision>
  <dc:title>A Real-Time Automatic Translation of Text to Sign Language</dc:title>
</cp:coreProperties>
</file>